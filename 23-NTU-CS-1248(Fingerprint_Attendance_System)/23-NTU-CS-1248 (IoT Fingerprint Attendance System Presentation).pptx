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52" r:id="rId5"/>
    <p:sldId id="317" r:id="rId6"/>
    <p:sldId id="307" r:id="rId7"/>
    <p:sldId id="383" r:id="rId8"/>
    <p:sldId id="384" r:id="rId9"/>
    <p:sldId id="385" r:id="rId10"/>
    <p:sldId id="403" r:id="rId11"/>
    <p:sldId id="386" r:id="rId12"/>
    <p:sldId id="387" r:id="rId13"/>
    <p:sldId id="402" r:id="rId14"/>
    <p:sldId id="388" r:id="rId15"/>
    <p:sldId id="389" r:id="rId16"/>
    <p:sldId id="393" r:id="rId17"/>
    <p:sldId id="396" r:id="rId18"/>
    <p:sldId id="405" r:id="rId19"/>
    <p:sldId id="390" r:id="rId20"/>
    <p:sldId id="397" r:id="rId21"/>
    <p:sldId id="404" r:id="rId22"/>
    <p:sldId id="398" r:id="rId23"/>
    <p:sldId id="391" r:id="rId24"/>
    <p:sldId id="39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E13AD70-6926-43C4-A4FE-BDF62D96E414}">
          <p14:sldIdLst>
            <p14:sldId id="352"/>
            <p14:sldId id="317"/>
            <p14:sldId id="307"/>
            <p14:sldId id="383"/>
            <p14:sldId id="384"/>
            <p14:sldId id="385"/>
            <p14:sldId id="403"/>
            <p14:sldId id="386"/>
            <p14:sldId id="387"/>
            <p14:sldId id="402"/>
            <p14:sldId id="388"/>
            <p14:sldId id="389"/>
            <p14:sldId id="393"/>
            <p14:sldId id="396"/>
            <p14:sldId id="405"/>
            <p14:sldId id="390"/>
            <p14:sldId id="397"/>
            <p14:sldId id="404"/>
            <p14:sldId id="398"/>
            <p14:sldId id="391"/>
            <p14:sldId id="3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3969" autoAdjust="0"/>
  </p:normalViewPr>
  <p:slideViewPr>
    <p:cSldViewPr snapToGrid="0">
      <p:cViewPr varScale="1">
        <p:scale>
          <a:sx n="60" d="100"/>
          <a:sy n="60" d="100"/>
        </p:scale>
        <p:origin x="1024" y="4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F303F9-DDE3-F134-123E-C2564AD56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156" y="1978573"/>
            <a:ext cx="8763000" cy="290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5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1340069"/>
            <a:ext cx="10360152" cy="5029200"/>
          </a:xfrm>
        </p:spPr>
        <p:txBody>
          <a:bodyPr anchor="ctr"/>
          <a:lstStyle/>
          <a:p>
            <a:r>
              <a:rPr lang="en-US" b="1" dirty="0"/>
              <a:t>IoT-Based Fingerprint Attendance System</a:t>
            </a:r>
            <a:br>
              <a:rPr lang="en-US" b="1" dirty="0"/>
            </a:br>
            <a:r>
              <a:rPr lang="en-US" b="1" dirty="0"/>
              <a:t> </a:t>
            </a:r>
            <a:r>
              <a:rPr lang="en-US" sz="2400" b="1" dirty="0"/>
              <a:t>Biometric Authentication using ESP32, AS608 Fingerprint Sensor, Blynk, Node-RED and Google Sheets</a:t>
            </a:r>
            <a:br>
              <a:rPr lang="en-US" sz="2400" b="1" dirty="0"/>
            </a:br>
            <a:br>
              <a:rPr lang="en-US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265" y="685800"/>
            <a:ext cx="5641848" cy="5029200"/>
          </a:xfrm>
        </p:spPr>
        <p:txBody>
          <a:bodyPr/>
          <a:lstStyle/>
          <a:p>
            <a:r>
              <a:rPr lang="en-US" sz="4000" dirty="0"/>
              <a:t>Presented by: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6064697"/>
              </p:ext>
            </p:extLst>
          </p:nvPr>
        </p:nvGraphicFramePr>
        <p:xfrm>
          <a:off x="6869113" y="1143000"/>
          <a:ext cx="4529356" cy="4574656"/>
        </p:xfrm>
        <a:graphic>
          <a:graphicData uri="http://schemas.openxmlformats.org/drawingml/2006/table">
            <a:tbl>
              <a:tblPr firstRow="1" bandRow="1"/>
              <a:tblGrid>
                <a:gridCol w="4529356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j-lt"/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Tim"/>
                          <a:ea typeface="+mn-ea"/>
                          <a:cs typeface="+mn-cs"/>
                        </a:rPr>
                        <a:t>Ayesha Khalid(23-NTU-CS-1248)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Tim"/>
                          <a:ea typeface="+mn-ea"/>
                          <a:cs typeface="+mn-cs"/>
                        </a:rPr>
                        <a:t>Arooj Komal(23-NTU-CS-1140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Tim"/>
                          <a:ea typeface="+mn-ea"/>
                          <a:cs typeface="+mn-cs"/>
                        </a:rPr>
                        <a:t>Faseeha Ahmad(23-NTU-CS-1251)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CA06-D94C-A0CA-443F-529C4E9B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&amp; 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37CD2-0753-13D1-47E6-6DBE8B487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DE7C5CC-4F82-CFB9-BA0D-B6150F7D2D12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914400" y="2043083"/>
            <a:ext cx="723014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attendance systems are manual, time-consuming, and prone to "proxy" errors.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IoT-enabled biometric system that uniquely identifies individuals and automates cloud-based record-keeping.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Benefits: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Increased reliability, security, and real-time automation.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21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9F8F5-1242-0F4B-8464-A828C8E3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9FDE6-81A5-C736-F8F9-1BC88E35E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7545E2-FB5F-E5E5-E37A-57B0E78E57EE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680484" y="1997839"/>
            <a:ext cx="589043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secure fingerprint-based authentication system.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automatic enrollment for new users.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real-time IoT dashboards for monitoring.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data logging to Google Sheets while preventing duplicate entries.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immediate user feedback via an OLED display.</a:t>
            </a:r>
          </a:p>
        </p:txBody>
      </p:sp>
    </p:spTree>
    <p:extLst>
      <p:ext uri="{BB962C8B-B14F-4D97-AF65-F5344CB8AC3E}">
        <p14:creationId xmlns:p14="http://schemas.microsoft.com/office/powerpoint/2010/main" val="61662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0C3E-2E14-4606-61AB-24AF6CD4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 (Hardware)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B50B3E4-F3C8-B3DE-4294-A8D80084586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256886264"/>
              </p:ext>
            </p:extLst>
          </p:nvPr>
        </p:nvGraphicFramePr>
        <p:xfrm>
          <a:off x="914399" y="2039112"/>
          <a:ext cx="5613992" cy="3904491"/>
        </p:xfrm>
        <a:graphic>
          <a:graphicData uri="http://schemas.openxmlformats.org/drawingml/2006/table">
            <a:tbl>
              <a:tblPr/>
              <a:tblGrid>
                <a:gridCol w="2806996">
                  <a:extLst>
                    <a:ext uri="{9D8B030D-6E8A-4147-A177-3AD203B41FA5}">
                      <a16:colId xmlns:a16="http://schemas.microsoft.com/office/drawing/2014/main" val="4157923266"/>
                    </a:ext>
                  </a:extLst>
                </a:gridCol>
                <a:gridCol w="2806996">
                  <a:extLst>
                    <a:ext uri="{9D8B030D-6E8A-4147-A177-3AD203B41FA5}">
                      <a16:colId xmlns:a16="http://schemas.microsoft.com/office/drawing/2014/main" val="2560721035"/>
                    </a:ext>
                  </a:extLst>
                </a:gridCol>
              </a:tblGrid>
              <a:tr h="678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Component</a:t>
                      </a:r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Function</a:t>
                      </a:r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663496"/>
                  </a:ext>
                </a:extLst>
              </a:tr>
              <a:tr h="678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ESP32</a:t>
                      </a:r>
                      <a:endParaRPr lang="en-US" sz="2000"/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Main controller with Wi-Fi for cloud connectivity.</a:t>
                      </a:r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216844"/>
                  </a:ext>
                </a:extLst>
              </a:tr>
              <a:tr h="678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AS608 Sensor</a:t>
                      </a:r>
                      <a:endParaRPr lang="en-US" sz="2000"/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Biometric fingerprint scanning and matching.</a:t>
                      </a:r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28973"/>
                  </a:ext>
                </a:extLst>
              </a:tr>
              <a:tr h="1190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OLED Display</a:t>
                      </a:r>
                      <a:endParaRPr lang="en-US" sz="2000" dirty="0"/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Real-time status and user feedback messages.</a:t>
                      </a:r>
                    </a:p>
                    <a:p>
                      <a:pPr>
                        <a:buNone/>
                      </a:pPr>
                      <a:endParaRPr lang="en-US" sz="2000" dirty="0"/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88790"/>
                  </a:ext>
                </a:extLst>
              </a:tr>
              <a:tr h="678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Power Supply</a:t>
                      </a:r>
                      <a:endParaRPr lang="en-US" sz="2000" dirty="0"/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Provides stable power to the system components.</a:t>
                      </a:r>
                    </a:p>
                  </a:txBody>
                  <a:tcPr marL="39798" marR="39798" marT="19899" marB="198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23714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1AAC9-A7B8-50B3-9243-EDF54318F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143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B7F1D-B8F8-DF1D-2C83-1C7C09FF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1694C-82C5-BDF1-5368-C72B0A003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11F1A4-5E49-805E-8946-7ED5998F8A44}"/>
              </a:ext>
            </a:extLst>
          </p:cNvPr>
          <p:cNvSpPr txBox="1">
            <a:spLocks/>
          </p:cNvSpPr>
          <p:nvPr/>
        </p:nvSpPr>
        <p:spPr>
          <a:xfrm>
            <a:off x="748710" y="903769"/>
            <a:ext cx="7534656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Circuit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175B30-3367-0E90-5F31-DECEA1836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0" y="1758293"/>
            <a:ext cx="5943600" cy="456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7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8C8D-5E4B-5982-2F47-B942C693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F212C-6873-6F76-9309-52F0C1642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6E36DD-256F-CE61-7AD6-5CA054D85FF7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914400" y="1978463"/>
            <a:ext cx="651775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Environment: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(VS Code) with Arduino Framework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1 Platform: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Blynk IoT app (used for initial testing and basic features)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2 Platform: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Node-RED (web-based, advanced data flow and control)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Storage: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Sheets integrated via Google Apps Script for attendance record keeping</a:t>
            </a:r>
          </a:p>
        </p:txBody>
      </p:sp>
    </p:spTree>
    <p:extLst>
      <p:ext uri="{BB962C8B-B14F-4D97-AF65-F5344CB8AC3E}">
        <p14:creationId xmlns:p14="http://schemas.microsoft.com/office/powerpoint/2010/main" val="256130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76C2-42DC-D964-0B15-72EFE6418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1 – Implementation Using Blynk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72703-2820-DBD9-5FAE-CD2974E4966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6101" y="2191512"/>
            <a:ext cx="4730815" cy="3872590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/>
              <a:t>Limitations of Blynk:</a:t>
            </a:r>
            <a:endParaRPr lang="en-US" sz="2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Limited options to customize widgets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Depended heavily on the mobile app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Difficult to implement complex logic or workflows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Challenging to do advanced debugging and control</a:t>
            </a:r>
          </a:p>
          <a:p>
            <a:pPr marL="0" indent="0">
              <a:buNone/>
            </a:pPr>
            <a:r>
              <a:rPr lang="en-US" b="1" dirty="0"/>
              <a:t>Because of these limits, we upgraded the project to use Node-RED in the next phase.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C0CE4-ED38-A71A-0856-8D69E8D29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F58EC8-CB7C-2F1A-3A2B-18B70E181770}"/>
              </a:ext>
            </a:extLst>
          </p:cNvPr>
          <p:cNvSpPr txBox="1">
            <a:spLocks/>
          </p:cNvSpPr>
          <p:nvPr/>
        </p:nvSpPr>
        <p:spPr>
          <a:xfrm>
            <a:off x="1066800" y="2191512"/>
            <a:ext cx="5029200" cy="3872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 the first phase, the project was built using the Blynk IoT platform:</a:t>
            </a:r>
          </a:p>
          <a:p>
            <a:pPr marL="0" indent="0">
              <a:buNone/>
            </a:pPr>
            <a:r>
              <a:rPr lang="en-US" b="1" dirty="0"/>
              <a:t>Features implemented: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Enroll button:</a:t>
            </a:r>
            <a:r>
              <a:rPr lang="en-US" dirty="0"/>
              <a:t> To register new users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Text input widget:</a:t>
            </a:r>
            <a:r>
              <a:rPr lang="en-US" dirty="0"/>
              <a:t> To enter user names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Attendance button:</a:t>
            </a:r>
            <a:r>
              <a:rPr lang="en-US" dirty="0"/>
              <a:t> To mark attendance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OLED display:</a:t>
            </a:r>
            <a:r>
              <a:rPr lang="en-US" dirty="0"/>
              <a:t> To give instant feedback to users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Google Sheets integration:</a:t>
            </a:r>
            <a:r>
              <a:rPr lang="en-US" dirty="0"/>
              <a:t> To save attendance data on the cloud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555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FD71F3-61A2-B0CC-5175-85DF3ACE4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0EEA8-9B8A-56E8-26BA-15FEF32DB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0" y="1892629"/>
            <a:ext cx="6779142" cy="42104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234D586-6D36-28F6-92E6-5D5550C7BB06}"/>
              </a:ext>
            </a:extLst>
          </p:cNvPr>
          <p:cNvSpPr txBox="1">
            <a:spLocks/>
          </p:cNvSpPr>
          <p:nvPr/>
        </p:nvSpPr>
        <p:spPr>
          <a:xfrm>
            <a:off x="748710" y="903769"/>
            <a:ext cx="7534656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Blynk Dashboard</a:t>
            </a:r>
          </a:p>
        </p:txBody>
      </p:sp>
    </p:spTree>
    <p:extLst>
      <p:ext uri="{BB962C8B-B14F-4D97-AF65-F5344CB8AC3E}">
        <p14:creationId xmlns:p14="http://schemas.microsoft.com/office/powerpoint/2010/main" val="2718996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D29C9-D1C6-BAB0-6257-E0E546AD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F6B0-ECA3-D34A-11AE-29283BD2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2 – Implementation Using Node-RED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3FA1B-312F-7D3B-8D93-AD77BF4B78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96492" y="2191512"/>
            <a:ext cx="4730815" cy="3872590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/>
              <a:t>Key advantages of Node-RED: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Fully customizable web-based dashboard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Better control over data flow and logic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Easier integration with Google Sheets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Real-time data visualization and debugging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39E60-2B32-6EA8-09AF-3C6C81198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E7E953-E6EC-85AE-090B-A91895CF81C7}"/>
              </a:ext>
            </a:extLst>
          </p:cNvPr>
          <p:cNvSpPr txBox="1">
            <a:spLocks/>
          </p:cNvSpPr>
          <p:nvPr/>
        </p:nvSpPr>
        <p:spPr>
          <a:xfrm>
            <a:off x="1066800" y="2191512"/>
            <a:ext cx="5029200" cy="3872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 this phase, Node-RED was used as the dashboard and control platform:</a:t>
            </a:r>
          </a:p>
          <a:p>
            <a:pPr marL="0" indent="0">
              <a:buNone/>
            </a:pPr>
            <a:r>
              <a:rPr lang="en-US" b="1" dirty="0"/>
              <a:t>Important Node-RED functions: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Trigger enrollment and attendance events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Display system status on dashboard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Prevent duplicate attendance entries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Send attendance data to Google Sheets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772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0A9F-D618-ECFF-B5DC-5F5FD2C4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18977"/>
            <a:ext cx="7534656" cy="914400"/>
          </a:xfrm>
        </p:spPr>
        <p:txBody>
          <a:bodyPr/>
          <a:lstStyle/>
          <a:p>
            <a:r>
              <a:rPr lang="en-US" b="1" dirty="0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5E174-C0C9-22DF-3BEA-24EE08B0541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379891"/>
            <a:ext cx="9250327" cy="525758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Initialization:</a:t>
            </a:r>
            <a:r>
              <a:rPr lang="en-US" sz="2600" dirty="0"/>
              <a:t> ESP32 powers on and connects to the Wi-Fi network to ensure internet access.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Device Setup:</a:t>
            </a:r>
            <a:r>
              <a:rPr lang="en-US" sz="2600" dirty="0"/>
              <a:t> Fingerprint sensor and OLED display are initialized and ready for use.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Enrollment:</a:t>
            </a:r>
            <a:r>
              <a:rPr lang="en-US" sz="2600" dirty="0"/>
              <a:t> User enrolls their fingerprint by scanning twice to ensure accuracy.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ID Assignment:</a:t>
            </a:r>
            <a:r>
              <a:rPr lang="en-US" sz="2600" dirty="0"/>
              <a:t> System assigns a unique fingerprint ID and links it to the user’s name.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Attendance Scan:</a:t>
            </a:r>
            <a:r>
              <a:rPr lang="en-US" sz="2600" dirty="0"/>
              <a:t> User scans their fingerprint on the sensor to mark attendance.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Verification:</a:t>
            </a:r>
            <a:r>
              <a:rPr lang="en-US" sz="2600" dirty="0"/>
              <a:t> ESP32 verifies the fingerprint by matching it with stored data.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Time Sync:</a:t>
            </a:r>
            <a:r>
              <a:rPr lang="en-US" sz="2600" dirty="0"/>
              <a:t> Current date and time are fetched from the internet using NTP for precise timestamps.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Data Logging:</a:t>
            </a:r>
            <a:r>
              <a:rPr lang="en-US" sz="2600" dirty="0"/>
              <a:t> Attendance data (user ID, name, date, and time) is sent securely to Google Sheets.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Duplicate Check:</a:t>
            </a:r>
            <a:r>
              <a:rPr lang="en-US" sz="2600" dirty="0"/>
              <a:t> System prevents duplicate attendance entries for the same user on the same day to maintain accurate records.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4B278-B367-63E6-A64E-E274237BF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41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C7A1-CA2A-D6EA-7391-874E2D08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435935"/>
            <a:ext cx="10360152" cy="914400"/>
          </a:xfrm>
        </p:spPr>
        <p:txBody>
          <a:bodyPr/>
          <a:lstStyle/>
          <a:p>
            <a:r>
              <a:rPr lang="en-US" b="1" dirty="0"/>
              <a:t>USER ENROLLEMENT PROCESS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77944-6889-2AF0-284B-AF8700A26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169E78-867F-BBDA-93D9-55FCB2A5FC56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914400" y="1841242"/>
            <a:ext cx="713444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the process of registering a new person into the system database.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admin triggers the "Enroll" mode via the Node-RED or Blynk dashboard.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 Assignment: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user’s name is entered into the system (via text input widget) to be mapped to a specific Finger ID.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Scan: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user places their finger on the AS608 sensor for the first 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Verification Scan: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user lifts and places the same finger again for a second scan to ensure consistency.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Storage: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fingerprint template is stored locally in the sensor’s memory, and the ID is synced with the cloud database.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Feedback: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OLED display shows a "Registration Successful" message.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09647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8D18-1D1A-CC2B-ACD9-C4DE5D64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87" y="859610"/>
            <a:ext cx="10360152" cy="914400"/>
          </a:xfrm>
        </p:spPr>
        <p:txBody>
          <a:bodyPr/>
          <a:lstStyle/>
          <a:p>
            <a:r>
              <a:rPr lang="en-US" b="1" dirty="0"/>
              <a:t>ATTENDANCE VERIFICATION WORKFLOW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7CA00-D911-784E-6EE7-E1F134D0A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2BDB18B-1669-5836-D480-1628015BAC6C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914400" y="1774010"/>
            <a:ext cx="8038214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the daily automated process for marking a user as "Present".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Standby Mode: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ESP32 stays connected to Wi-Fi and waits for a finger to be placed on the AS608 sensor.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Biometric Matching: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sensor scans the finger and compares it against the stored templates.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 Syncing: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Upon a valid match, the ESP32 fetches the current date and time from the internet using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NTP (Network Time Protocol)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server.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Duplicate Check: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system (via Google Apps Script) checks if that specific User ID has already marked attendance for the current date.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Cloud Logging: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*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New: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new row is added to Google Sheets with Name, Date, Time, and "Present" status.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 Confirmation: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OLED display confirms the attendance marked or warns if it is already present.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1840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51738-FFE4-F714-DED3-84BD53997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874E3D-07A3-CF84-1343-A2C7EA96A992}"/>
              </a:ext>
            </a:extLst>
          </p:cNvPr>
          <p:cNvSpPr txBox="1">
            <a:spLocks/>
          </p:cNvSpPr>
          <p:nvPr/>
        </p:nvSpPr>
        <p:spPr>
          <a:xfrm>
            <a:off x="748710" y="355071"/>
            <a:ext cx="7534656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B2693-F66D-0FBA-4212-4106D01A5E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22" r="-231"/>
          <a:stretch/>
        </p:blipFill>
        <p:spPr bwMode="auto">
          <a:xfrm>
            <a:off x="748710" y="1105786"/>
            <a:ext cx="5347290" cy="56699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2721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D46A1-F8E8-062D-4B07-1C0627DC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62" y="372139"/>
            <a:ext cx="7534656" cy="914400"/>
          </a:xfrm>
        </p:spPr>
        <p:txBody>
          <a:bodyPr/>
          <a:lstStyle/>
          <a:p>
            <a:r>
              <a:rPr lang="en-US" b="1" dirty="0"/>
              <a:t>Data Management (Google Sheets)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4F12-B78F-FFB3-093F-C0AFB7B40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95BDD7-CBC4-F5A5-5164-281BD67160D0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510362" y="-979705"/>
            <a:ext cx="10037135" cy="7714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200" b="1" dirty="0"/>
              <a:t>Cloud Database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Google Sheets used as database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 sent via HTTP request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Google Apps Script handles data</a:t>
            </a:r>
          </a:p>
          <a:p>
            <a:pPr marL="0" indent="0">
              <a:buNone/>
            </a:pPr>
            <a:r>
              <a:rPr lang="en-US" sz="2200" b="1" dirty="0"/>
              <a:t>Stored Parameters</a:t>
            </a:r>
          </a:p>
          <a:p>
            <a:pPr marL="0" indent="0">
              <a:buNone/>
            </a:pPr>
            <a:r>
              <a:rPr lang="en-US" dirty="0"/>
              <a:t>• Finger ID</a:t>
            </a:r>
            <a:br>
              <a:rPr lang="en-US" dirty="0"/>
            </a:br>
            <a:r>
              <a:rPr lang="en-US" dirty="0"/>
              <a:t>• Name</a:t>
            </a:r>
            <a:br>
              <a:rPr lang="en-US" dirty="0"/>
            </a:br>
            <a:r>
              <a:rPr lang="en-US" dirty="0"/>
              <a:t>• Date</a:t>
            </a:r>
            <a:br>
              <a:rPr lang="en-US" dirty="0"/>
            </a:br>
            <a:r>
              <a:rPr lang="en-US" dirty="0"/>
              <a:t>• Time</a:t>
            </a:r>
            <a:br>
              <a:rPr lang="en-US" dirty="0"/>
            </a:br>
            <a:r>
              <a:rPr lang="en-US" dirty="0"/>
              <a:t>• Status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Storage: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records Finger ID, Name, Date, Time, and Status.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Updates: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Apps Script is used to check for existing records and update them if attendance is already marked for that day.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147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B1F58-84D4-EB8F-1F60-E17624F7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DE2D7-6137-2D7E-7B24-DA1DA8FE7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953" y="775282"/>
            <a:ext cx="7534656" cy="914400"/>
          </a:xfrm>
        </p:spPr>
        <p:txBody>
          <a:bodyPr/>
          <a:lstStyle/>
          <a:p>
            <a:r>
              <a:rPr lang="en-US" b="1" dirty="0"/>
              <a:t>GOOGLE SHEETS DATA FORMAT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BED12-5DAE-BBE2-3330-59E936582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AE85416-D28F-E426-B018-F5C228458EC5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510362" y="2523814"/>
            <a:ext cx="100371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B95D12-2477-C083-0503-5EFE4BF34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819896"/>
              </p:ext>
            </p:extLst>
          </p:nvPr>
        </p:nvGraphicFramePr>
        <p:xfrm>
          <a:off x="763770" y="1967726"/>
          <a:ext cx="9273365" cy="1820061"/>
        </p:xfrm>
        <a:graphic>
          <a:graphicData uri="http://schemas.openxmlformats.org/drawingml/2006/table">
            <a:tbl>
              <a:tblPr firstRow="1" bandRow="1" bandCol="1">
                <a:tableStyleId>{2D5ABB26-0587-4C30-8999-92F81FD0307C}</a:tableStyleId>
              </a:tblPr>
              <a:tblGrid>
                <a:gridCol w="1854673">
                  <a:extLst>
                    <a:ext uri="{9D8B030D-6E8A-4147-A177-3AD203B41FA5}">
                      <a16:colId xmlns:a16="http://schemas.microsoft.com/office/drawing/2014/main" val="1141750570"/>
                    </a:ext>
                  </a:extLst>
                </a:gridCol>
                <a:gridCol w="1854673">
                  <a:extLst>
                    <a:ext uri="{9D8B030D-6E8A-4147-A177-3AD203B41FA5}">
                      <a16:colId xmlns:a16="http://schemas.microsoft.com/office/drawing/2014/main" val="845131310"/>
                    </a:ext>
                  </a:extLst>
                </a:gridCol>
                <a:gridCol w="1854673">
                  <a:extLst>
                    <a:ext uri="{9D8B030D-6E8A-4147-A177-3AD203B41FA5}">
                      <a16:colId xmlns:a16="http://schemas.microsoft.com/office/drawing/2014/main" val="1378786313"/>
                    </a:ext>
                  </a:extLst>
                </a:gridCol>
                <a:gridCol w="1854673">
                  <a:extLst>
                    <a:ext uri="{9D8B030D-6E8A-4147-A177-3AD203B41FA5}">
                      <a16:colId xmlns:a16="http://schemas.microsoft.com/office/drawing/2014/main" val="376409944"/>
                    </a:ext>
                  </a:extLst>
                </a:gridCol>
                <a:gridCol w="1854673">
                  <a:extLst>
                    <a:ext uri="{9D8B030D-6E8A-4147-A177-3AD203B41FA5}">
                      <a16:colId xmlns:a16="http://schemas.microsoft.com/office/drawing/2014/main" val="4170277202"/>
                    </a:ext>
                  </a:extLst>
                </a:gridCol>
              </a:tblGrid>
              <a:tr h="928333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Finger_ID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Name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Date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Time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Status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5166018"/>
                  </a:ext>
                </a:extLst>
              </a:tr>
              <a:tr h="891728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Ali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07-01-2026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09:15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Present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42682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5C8679-30F7-87ED-5BE9-118A8B2F89A6}"/>
              </a:ext>
            </a:extLst>
          </p:cNvPr>
          <p:cNvSpPr txBox="1"/>
          <p:nvPr/>
        </p:nvSpPr>
        <p:spPr>
          <a:xfrm>
            <a:off x="763770" y="3975588"/>
            <a:ext cx="448693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Special Feature</a:t>
            </a:r>
          </a:p>
          <a:p>
            <a:r>
              <a:rPr lang="en-US" sz="2000" dirty="0"/>
              <a:t>• Duplicate attendance prevented</a:t>
            </a:r>
            <a:br>
              <a:rPr lang="en-US" sz="2000" dirty="0"/>
            </a:br>
            <a:r>
              <a:rPr lang="en-US" sz="2000" dirty="0"/>
              <a:t>• Existing record updated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475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4674-F23B-C4A4-0B2C-C0661215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0E740F-318C-49A9-D77D-BC4934B48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1E013F-5C7E-0B66-38E8-B1F932EB0267}"/>
              </a:ext>
            </a:extLst>
          </p:cNvPr>
          <p:cNvSpPr txBox="1">
            <a:spLocks/>
          </p:cNvSpPr>
          <p:nvPr/>
        </p:nvSpPr>
        <p:spPr>
          <a:xfrm>
            <a:off x="748710" y="903769"/>
            <a:ext cx="7534656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Google Sheets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51048-6913-3F84-1A0B-527F71A86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0" y="1818169"/>
            <a:ext cx="8161375" cy="43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70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B116-862A-E635-7EB1-23E31455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 and Validation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D527E0-F314-7660-5829-5D1F5E8A558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7043643"/>
              </p:ext>
            </p:extLst>
          </p:nvPr>
        </p:nvGraphicFramePr>
        <p:xfrm>
          <a:off x="765544" y="2179674"/>
          <a:ext cx="7150100" cy="3136608"/>
        </p:xfrm>
        <a:graphic>
          <a:graphicData uri="http://schemas.openxmlformats.org/drawingml/2006/table">
            <a:tbl>
              <a:tblPr firstRow="1" bandRow="1" bandCol="1">
                <a:tableStyleId>{2D5ABB26-0587-4C30-8999-92F81FD0307C}</a:tableStyleId>
              </a:tblPr>
              <a:tblGrid>
                <a:gridCol w="3575050">
                  <a:extLst>
                    <a:ext uri="{9D8B030D-6E8A-4147-A177-3AD203B41FA5}">
                      <a16:colId xmlns:a16="http://schemas.microsoft.com/office/drawing/2014/main" val="4124864980"/>
                    </a:ext>
                  </a:extLst>
                </a:gridCol>
                <a:gridCol w="3575050">
                  <a:extLst>
                    <a:ext uri="{9D8B030D-6E8A-4147-A177-3AD203B41FA5}">
                      <a16:colId xmlns:a16="http://schemas.microsoft.com/office/drawing/2014/main" val="2353596312"/>
                    </a:ext>
                  </a:extLst>
                </a:gridCol>
              </a:tblGrid>
              <a:tr h="5227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Test Case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Result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extLst>
                  <a:ext uri="{0D108BD9-81ED-4DB2-BD59-A6C34878D82A}">
                    <a16:rowId xmlns:a16="http://schemas.microsoft.com/office/drawing/2014/main" val="26046678"/>
                  </a:ext>
                </a:extLst>
              </a:tr>
              <a:tr h="522768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Valid fingerprint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Attendance marked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extLst>
                  <a:ext uri="{0D108BD9-81ED-4DB2-BD59-A6C34878D82A}">
                    <a16:rowId xmlns:a16="http://schemas.microsoft.com/office/drawing/2014/main" val="92879940"/>
                  </a:ext>
                </a:extLst>
              </a:tr>
              <a:tr h="522768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Same user twice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Duplicate prevented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extLst>
                  <a:ext uri="{0D108BD9-81ED-4DB2-BD59-A6C34878D82A}">
                    <a16:rowId xmlns:a16="http://schemas.microsoft.com/office/drawing/2014/main" val="813882886"/>
                  </a:ext>
                </a:extLst>
              </a:tr>
              <a:tr h="522768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Invalid fingerprint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Access denied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extLst>
                  <a:ext uri="{0D108BD9-81ED-4DB2-BD59-A6C34878D82A}">
                    <a16:rowId xmlns:a16="http://schemas.microsoft.com/office/drawing/2014/main" val="3017583961"/>
                  </a:ext>
                </a:extLst>
              </a:tr>
              <a:tr h="522768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Wi-Fi disconnection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Auto reconnection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extLst>
                  <a:ext uri="{0D108BD9-81ED-4DB2-BD59-A6C34878D82A}">
                    <a16:rowId xmlns:a16="http://schemas.microsoft.com/office/drawing/2014/main" val="1839787767"/>
                  </a:ext>
                </a:extLst>
              </a:tr>
              <a:tr h="522768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Power reset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System resumes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631" marR="46631" marT="0" marB="0"/>
                </a:tc>
                <a:extLst>
                  <a:ext uri="{0D108BD9-81ED-4DB2-BD59-A6C34878D82A}">
                    <a16:rowId xmlns:a16="http://schemas.microsoft.com/office/drawing/2014/main" val="427600223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3D490-723F-801D-4A0F-01689D0A6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86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72EC-619B-FBCA-FF11-6BCB5A35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074" y="363137"/>
            <a:ext cx="7534656" cy="914400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D19AC-2D6C-1BC4-E323-1AF96651D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F7DB52A-8A1A-0697-5F2D-B50FD3948F00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808074" y="1564675"/>
            <a:ext cx="8208335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successfully automates attendance management by integrating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biometric authentication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storage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evolved through two phases, starting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Blynk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prototyping and migrating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Node-RED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enhanced reliability.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objectives were met, including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logging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prevention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providing clear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feedback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via OLED.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final solution is a secure, efficient, and scalable tool suitable for educational or corporate environments</a:t>
            </a:r>
          </a:p>
        </p:txBody>
      </p:sp>
    </p:spTree>
    <p:extLst>
      <p:ext uri="{BB962C8B-B14F-4D97-AF65-F5344CB8AC3E}">
        <p14:creationId xmlns:p14="http://schemas.microsoft.com/office/powerpoint/2010/main" val="1787911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45D4-C6E7-0D4A-88AF-62AB50831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Enhancements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9A6AA-2FA3-5D46-44BD-B6515117D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46ADDB0-9DFF-B351-E050-71F5402A7E04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914399" y="2392591"/>
            <a:ext cx="432745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Face Recognition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multi-factor authentication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Offline Storage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handle internet outages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SMS/Email notifications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attendance alerts to parents or managers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 a dedicated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Admin Web Portal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mobile app for better management</a:t>
            </a:r>
          </a:p>
        </p:txBody>
      </p:sp>
    </p:spTree>
    <p:extLst>
      <p:ext uri="{BB962C8B-B14F-4D97-AF65-F5344CB8AC3E}">
        <p14:creationId xmlns:p14="http://schemas.microsoft.com/office/powerpoint/2010/main" val="27305040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{B4BDBA3A-2247-4DA8-9047-385A4DFBA1C8}tf11964407_win32</Template>
  <TotalTime>4818</TotalTime>
  <Words>1137</Words>
  <Application>Microsoft Office PowerPoint</Application>
  <PresentationFormat>Widescreen</PresentationFormat>
  <Paragraphs>163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Calibri</vt:lpstr>
      <vt:lpstr>Courier New</vt:lpstr>
      <vt:lpstr>Gill Sans Nova Light</vt:lpstr>
      <vt:lpstr>Sagona Book</vt:lpstr>
      <vt:lpstr>Tim</vt:lpstr>
      <vt:lpstr>Wingdings</vt:lpstr>
      <vt:lpstr>Custom</vt:lpstr>
      <vt:lpstr>PowerPoint Presentation</vt:lpstr>
      <vt:lpstr>IoT-Based Fingerprint Attendance System  Biometric Authentication using ESP32, AS608 Fingerprint Sensor, Blynk, Node-RED and Google Sheets  </vt:lpstr>
      <vt:lpstr>Presented by:</vt:lpstr>
      <vt:lpstr>Introduction &amp; Problem Statement</vt:lpstr>
      <vt:lpstr>Project Objectives</vt:lpstr>
      <vt:lpstr>System Architecture (Hardware)</vt:lpstr>
      <vt:lpstr>PowerPoint Presentation</vt:lpstr>
      <vt:lpstr>Software Stack</vt:lpstr>
      <vt:lpstr>Phase 1 – Implementation Using Blynk</vt:lpstr>
      <vt:lpstr>PowerPoint Presentation</vt:lpstr>
      <vt:lpstr>Phase 2 – Implementation Using Node-RED</vt:lpstr>
      <vt:lpstr>Working Principle</vt:lpstr>
      <vt:lpstr>USER ENROLLEMENT PROCESS</vt:lpstr>
      <vt:lpstr>ATTENDANCE VERIFICATION WORKFLOW </vt:lpstr>
      <vt:lpstr>PowerPoint Presentation</vt:lpstr>
      <vt:lpstr>Data Management (Google Sheets) </vt:lpstr>
      <vt:lpstr>GOOGLE SHEETS DATA FORMAT </vt:lpstr>
      <vt:lpstr>PowerPoint Presentation</vt:lpstr>
      <vt:lpstr>Testing and Validation</vt:lpstr>
      <vt:lpstr>Conclusion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Smart Assistants (Siri, Alexa) work? Using AI &amp; Knowledge representation and reasoning</dc:title>
  <dc:creator>23-NTU-CS-FL-1251</dc:creator>
  <cp:lastModifiedBy>23-NTU-CS-FL-1248</cp:lastModifiedBy>
  <cp:revision>105</cp:revision>
  <dcterms:created xsi:type="dcterms:W3CDTF">2025-05-22T23:26:05Z</dcterms:created>
  <dcterms:modified xsi:type="dcterms:W3CDTF">2026-01-09T17:12:35Z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